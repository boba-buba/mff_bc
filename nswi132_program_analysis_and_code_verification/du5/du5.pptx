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1" r:id="rId6"/>
    <p:sldId id="262" r:id="rId7"/>
    <p:sldId id="263" r:id="rId8"/>
    <p:sldId id="264" r:id="rId9"/>
    <p:sldId id="265" r:id="rId10"/>
    <p:sldId id="266" r:id="rId11"/>
    <p:sldId id="267" r:id="rId12"/>
    <p:sldId id="268" r:id="rId13"/>
    <p:sldId id="269" r:id="rId14"/>
    <p:sldId id="270" r:id="rId15"/>
    <p:sldId id="271"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53FA8FAC-E0A6-4E14-A928-1E163C7FFDF3}" type="datetimeFigureOut">
              <a:rPr lang="en-US" smtClean="0"/>
              <a:t>5/15/2025</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96ECBC3-3966-4606-80C2-79C0FE462F2A}"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158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A8FAC-E0A6-4E14-A928-1E163C7FFDF3}"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2636820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FA8FAC-E0A6-4E14-A928-1E163C7FFDF3}"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ECBC3-3966-4606-80C2-79C0FE462F2A}"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184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FA8FAC-E0A6-4E14-A928-1E163C7FFDF3}"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409717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FA8FAC-E0A6-4E14-A928-1E163C7FFDF3}" type="datetimeFigureOut">
              <a:rPr lang="en-US" smtClean="0"/>
              <a:t>5/15/2025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4243896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8FAC-E0A6-4E14-A928-1E163C7FFDF3}" type="datetimeFigureOut">
              <a:rPr lang="en-US" smtClean="0"/>
              <a:t>5/15/2025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1731241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A8FAC-E0A6-4E14-A928-1E163C7FFDF3}" type="datetimeFigureOut">
              <a:rPr lang="en-US" smtClean="0"/>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3163988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FA8FAC-E0A6-4E14-A928-1E163C7FFDF3}"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167346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FA8FAC-E0A6-4E14-A928-1E163C7FFDF3}" type="datetimeFigureOut">
              <a:rPr lang="en-US" smtClean="0"/>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2225335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A8FAC-E0A6-4E14-A928-1E163C7FFDF3}"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238304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A8FAC-E0A6-4E14-A928-1E163C7FFDF3}" type="datetimeFigureOut">
              <a:rPr lang="en-US" smtClean="0"/>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6ECBC3-3966-4606-80C2-79C0FE462F2A}" type="slidenum">
              <a:rPr lang="en-US" smtClean="0"/>
              <a:t>‹#›</a:t>
            </a:fld>
            <a:endParaRPr lang="en-US"/>
          </a:p>
        </p:txBody>
      </p:sp>
    </p:spTree>
    <p:extLst>
      <p:ext uri="{BB962C8B-B14F-4D97-AF65-F5344CB8AC3E}">
        <p14:creationId xmlns:p14="http://schemas.microsoft.com/office/powerpoint/2010/main" val="2728619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53FA8FAC-E0A6-4E14-A928-1E163C7FFDF3}" type="datetimeFigureOut">
              <a:rPr lang="en-US" smtClean="0"/>
              <a:t>5/15/2025</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96ECBC3-3966-4606-80C2-79C0FE462F2A}" type="slidenum">
              <a:rPr lang="en-US" smtClean="0"/>
              <a:t>‹#›</a:t>
            </a:fld>
            <a:endParaRPr lang="en-US"/>
          </a:p>
        </p:txBody>
      </p:sp>
    </p:spTree>
    <p:extLst>
      <p:ext uri="{BB962C8B-B14F-4D97-AF65-F5344CB8AC3E}">
        <p14:creationId xmlns:p14="http://schemas.microsoft.com/office/powerpoint/2010/main" val="40992372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82CFD-26FF-0587-2CC5-146C3FDEA1E1}"/>
              </a:ext>
            </a:extLst>
          </p:cNvPr>
          <p:cNvSpPr>
            <a:spLocks noGrp="1"/>
          </p:cNvSpPr>
          <p:nvPr>
            <p:ph type="ctrTitle"/>
          </p:nvPr>
        </p:nvSpPr>
        <p:spPr>
          <a:xfrm>
            <a:off x="541361" y="1269242"/>
            <a:ext cx="11109277" cy="2336256"/>
          </a:xfrm>
        </p:spPr>
        <p:txBody>
          <a:bodyPr>
            <a:normAutofit fontScale="90000"/>
          </a:bodyPr>
          <a:lstStyle/>
          <a:p>
            <a:r>
              <a:rPr lang="en-US" sz="5400" dirty="0">
                <a:solidFill>
                  <a:schemeClr val="tx1"/>
                </a:solidFill>
              </a:rPr>
              <a:t>Practical Verification of System-Software Components</a:t>
            </a:r>
            <a:br>
              <a:rPr lang="en-US" sz="5400" dirty="0">
                <a:solidFill>
                  <a:schemeClr val="tx1"/>
                </a:solidFill>
              </a:rPr>
            </a:br>
            <a:r>
              <a:rPr lang="en-US" sz="5400" dirty="0">
                <a:solidFill>
                  <a:schemeClr val="tx1"/>
                </a:solidFill>
              </a:rPr>
              <a:t>Written in Standard C</a:t>
            </a:r>
          </a:p>
        </p:txBody>
      </p:sp>
    </p:spTree>
    <p:extLst>
      <p:ext uri="{BB962C8B-B14F-4D97-AF65-F5344CB8AC3E}">
        <p14:creationId xmlns:p14="http://schemas.microsoft.com/office/powerpoint/2010/main" val="1539463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8E115-67EA-842D-B9F4-A0BA99F19181}"/>
              </a:ext>
            </a:extLst>
          </p:cNvPr>
          <p:cNvSpPr>
            <a:spLocks noGrp="1"/>
          </p:cNvSpPr>
          <p:nvPr>
            <p:ph type="title"/>
          </p:nvPr>
        </p:nvSpPr>
        <p:spPr/>
        <p:txBody>
          <a:bodyPr/>
          <a:lstStyle/>
          <a:p>
            <a:r>
              <a:rPr lang="en-US" dirty="0">
                <a:solidFill>
                  <a:schemeClr val="bg2">
                    <a:lumMod val="50000"/>
                    <a:lumOff val="50000"/>
                  </a:schemeClr>
                </a:solidFill>
              </a:rPr>
              <a:t>Goals (in context of existing verifiers)</a:t>
            </a:r>
          </a:p>
        </p:txBody>
      </p:sp>
      <p:sp>
        <p:nvSpPr>
          <p:cNvPr id="3" name="Content Placeholder 2">
            <a:extLst>
              <a:ext uri="{FF2B5EF4-FFF2-40B4-BE49-F238E27FC236}">
                <a16:creationId xmlns:a16="http://schemas.microsoft.com/office/drawing/2014/main" id="{1182FFFE-35C2-0BD7-7FCC-FCE33C649535}"/>
              </a:ext>
            </a:extLst>
          </p:cNvPr>
          <p:cNvSpPr>
            <a:spLocks noGrp="1"/>
          </p:cNvSpPr>
          <p:nvPr>
            <p:ph idx="1"/>
          </p:nvPr>
        </p:nvSpPr>
        <p:spPr/>
        <p:txBody>
          <a:bodyPr>
            <a:normAutofit/>
          </a:bodyPr>
          <a:lstStyle/>
          <a:p>
            <a:pPr marL="502920" indent="-457200">
              <a:buAutoNum type="arabicPeriod"/>
            </a:pPr>
            <a:r>
              <a:rPr lang="en-US" dirty="0">
                <a:solidFill>
                  <a:srgbClr val="FF0000"/>
                </a:solidFill>
              </a:rPr>
              <a:t>Only some parts of the systems are critical </a:t>
            </a:r>
            <a:r>
              <a:rPr lang="en-US" dirty="0">
                <a:solidFill>
                  <a:schemeClr val="tx1"/>
                </a:solidFill>
              </a:rPr>
              <a:t>-&gt; </a:t>
            </a:r>
            <a:r>
              <a:rPr lang="en-US" dirty="0">
                <a:solidFill>
                  <a:srgbClr val="008000"/>
                </a:solidFill>
              </a:rPr>
              <a:t>Aim  to prove the correctness of critical components of systems, not entire systems.</a:t>
            </a:r>
          </a:p>
          <a:p>
            <a:pPr marL="502920" indent="-457200">
              <a:buAutoNum type="arabicPeriod"/>
            </a:pPr>
            <a:r>
              <a:rPr lang="en-US" dirty="0">
                <a:solidFill>
                  <a:srgbClr val="FF0000"/>
                </a:solidFill>
              </a:rPr>
              <a:t>A lot of modern tools are interactive (developer iteratively provides instructions to the verifier for correctness proof), therefore it can take several person-years for reasonably sized code</a:t>
            </a:r>
            <a:r>
              <a:rPr lang="en-US" dirty="0">
                <a:solidFill>
                  <a:schemeClr val="tx1"/>
                </a:solidFill>
              </a:rPr>
              <a:t> -&gt; </a:t>
            </a:r>
            <a:r>
              <a:rPr lang="en-US" dirty="0">
                <a:solidFill>
                  <a:srgbClr val="008000"/>
                </a:solidFill>
              </a:rPr>
              <a:t>Enable developers to prove the correctness of correct code in one go.</a:t>
            </a:r>
          </a:p>
          <a:p>
            <a:pPr marL="502920" indent="-457200">
              <a:buAutoNum type="arabicPeriod"/>
            </a:pPr>
            <a:r>
              <a:rPr lang="en-US" dirty="0">
                <a:solidFill>
                  <a:srgbClr val="FF0000"/>
                </a:solidFill>
              </a:rPr>
              <a:t>Other verifiers rely on programmer to annotate code with formal comments that describe the logic (pre-/post-conditions) </a:t>
            </a:r>
            <a:r>
              <a:rPr lang="en-US" dirty="0">
                <a:solidFill>
                  <a:schemeClr val="tx1"/>
                </a:solidFill>
              </a:rPr>
              <a:t>-&gt; </a:t>
            </a:r>
            <a:r>
              <a:rPr lang="en-US" dirty="0">
                <a:solidFill>
                  <a:srgbClr val="008000"/>
                </a:solidFill>
              </a:rPr>
              <a:t>Reduce annotation burden.</a:t>
            </a:r>
          </a:p>
          <a:p>
            <a:pPr marL="502920" indent="-457200">
              <a:buAutoNum type="arabicPeriod"/>
            </a:pPr>
            <a:r>
              <a:rPr lang="en-US" dirty="0">
                <a:solidFill>
                  <a:srgbClr val="FF0000"/>
                </a:solidFill>
              </a:rPr>
              <a:t>To reduce annotation burden some would forgo C language and choose other better suited language for annotation. That leads to need to learn new language </a:t>
            </a:r>
            <a:r>
              <a:rPr lang="en-US" dirty="0">
                <a:solidFill>
                  <a:schemeClr val="tx1"/>
                </a:solidFill>
              </a:rPr>
              <a:t>-&gt; </a:t>
            </a:r>
            <a:r>
              <a:rPr lang="en-US" dirty="0">
                <a:solidFill>
                  <a:srgbClr val="008000"/>
                </a:solidFill>
              </a:rPr>
              <a:t>Not require system programmers to learn verification-specific languages. </a:t>
            </a:r>
          </a:p>
          <a:p>
            <a:pPr marL="502920" indent="-457200">
              <a:buAutoNum type="arabicPeriod"/>
            </a:pPr>
            <a:endParaRPr lang="en-US" dirty="0">
              <a:solidFill>
                <a:schemeClr val="tx1"/>
              </a:solidFill>
            </a:endParaRPr>
          </a:p>
          <a:p>
            <a:pPr marL="502920" indent="-457200">
              <a:buAutoNum type="arabicPeriod"/>
            </a:pPr>
            <a:endParaRPr lang="en-US" dirty="0">
              <a:solidFill>
                <a:schemeClr val="tx1"/>
              </a:solidFill>
            </a:endParaRPr>
          </a:p>
        </p:txBody>
      </p:sp>
    </p:spTree>
    <p:extLst>
      <p:ext uri="{BB962C8B-B14F-4D97-AF65-F5344CB8AC3E}">
        <p14:creationId xmlns:p14="http://schemas.microsoft.com/office/powerpoint/2010/main" val="1737302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6813E-8E35-C3E2-24E5-45A419645F00}"/>
              </a:ext>
            </a:extLst>
          </p:cNvPr>
          <p:cNvSpPr>
            <a:spLocks noGrp="1"/>
          </p:cNvSpPr>
          <p:nvPr>
            <p:ph type="title"/>
          </p:nvPr>
        </p:nvSpPr>
        <p:spPr/>
        <p:txBody>
          <a:bodyPr/>
          <a:lstStyle/>
          <a:p>
            <a:r>
              <a:rPr lang="en-US" dirty="0"/>
              <a:t>Spectrum</a:t>
            </a:r>
          </a:p>
        </p:txBody>
      </p:sp>
      <p:cxnSp>
        <p:nvCxnSpPr>
          <p:cNvPr id="5" name="Straight Connector 4">
            <a:extLst>
              <a:ext uri="{FF2B5EF4-FFF2-40B4-BE49-F238E27FC236}">
                <a16:creationId xmlns:a16="http://schemas.microsoft.com/office/drawing/2014/main" id="{74204291-E228-05F0-B9B9-4FB67EC3B954}"/>
              </a:ext>
            </a:extLst>
          </p:cNvPr>
          <p:cNvCxnSpPr>
            <a:cxnSpLocks/>
          </p:cNvCxnSpPr>
          <p:nvPr/>
        </p:nvCxnSpPr>
        <p:spPr>
          <a:xfrm>
            <a:off x="1877962" y="5122607"/>
            <a:ext cx="7787148" cy="0"/>
          </a:xfrm>
          <a:prstGeom prst="line">
            <a:avLst/>
          </a:prstGeom>
          <a:ln w="73025">
            <a:gradFill flip="none" rotWithShape="1">
              <a:gsLst>
                <a:gs pos="16000">
                  <a:srgbClr val="C00000"/>
                </a:gs>
                <a:gs pos="41000">
                  <a:srgbClr val="FFC000"/>
                </a:gs>
                <a:gs pos="53000">
                  <a:srgbClr val="FFFF00"/>
                </a:gs>
                <a:gs pos="100000">
                  <a:srgbClr val="00B050"/>
                </a:gs>
              </a:gsLst>
              <a:lin ang="8100000" scaled="1"/>
              <a:tileRect/>
            </a:gra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AC5FB82-E064-70F1-9E07-D5F5D039D437}"/>
              </a:ext>
            </a:extLst>
          </p:cNvPr>
          <p:cNvSpPr txBox="1"/>
          <p:nvPr/>
        </p:nvSpPr>
        <p:spPr>
          <a:xfrm>
            <a:off x="580104" y="2582823"/>
            <a:ext cx="3372462" cy="1477328"/>
          </a:xfrm>
          <a:prstGeom prst="rect">
            <a:avLst/>
          </a:prstGeom>
          <a:noFill/>
        </p:spPr>
        <p:txBody>
          <a:bodyPr wrap="square">
            <a:spAutoFit/>
          </a:bodyPr>
          <a:lstStyle/>
          <a:p>
            <a:r>
              <a:rPr lang="en-US" b="1" dirty="0"/>
              <a:t>Interactive verification</a:t>
            </a:r>
            <a:r>
              <a:rPr lang="en-US" dirty="0"/>
              <a:t>: a lot of interaction with theorem provers to write proofs as detailed sequence of steps, separately from code.</a:t>
            </a:r>
          </a:p>
        </p:txBody>
      </p:sp>
      <p:sp>
        <p:nvSpPr>
          <p:cNvPr id="10" name="TextBox 9">
            <a:extLst>
              <a:ext uri="{FF2B5EF4-FFF2-40B4-BE49-F238E27FC236}">
                <a16:creationId xmlns:a16="http://schemas.microsoft.com/office/drawing/2014/main" id="{0EBF64DD-A814-D8C3-DF91-A54438E77DDF}"/>
              </a:ext>
            </a:extLst>
          </p:cNvPr>
          <p:cNvSpPr txBox="1"/>
          <p:nvPr/>
        </p:nvSpPr>
        <p:spPr>
          <a:xfrm>
            <a:off x="4218038" y="2582823"/>
            <a:ext cx="3578942" cy="1477328"/>
          </a:xfrm>
          <a:prstGeom prst="rect">
            <a:avLst/>
          </a:prstGeom>
          <a:noFill/>
        </p:spPr>
        <p:txBody>
          <a:bodyPr wrap="square">
            <a:spAutoFit/>
          </a:bodyPr>
          <a:lstStyle/>
          <a:p>
            <a:r>
              <a:rPr lang="en-US" b="1" dirty="0"/>
              <a:t>Semi-automated verifiers</a:t>
            </a:r>
            <a:r>
              <a:rPr lang="en-US" dirty="0"/>
              <a:t>: inserting logic annotation in code. The annotations provide pre-/post-conditions and proof hints (invariants).</a:t>
            </a:r>
          </a:p>
        </p:txBody>
      </p:sp>
      <p:sp>
        <p:nvSpPr>
          <p:cNvPr id="12" name="TextBox 11">
            <a:extLst>
              <a:ext uri="{FF2B5EF4-FFF2-40B4-BE49-F238E27FC236}">
                <a16:creationId xmlns:a16="http://schemas.microsoft.com/office/drawing/2014/main" id="{6FDDA9A6-4A26-66D4-DE1C-535E4F2CEF1E}"/>
              </a:ext>
            </a:extLst>
          </p:cNvPr>
          <p:cNvSpPr txBox="1"/>
          <p:nvPr/>
        </p:nvSpPr>
        <p:spPr>
          <a:xfrm>
            <a:off x="8062452" y="2582823"/>
            <a:ext cx="3755923" cy="1477328"/>
          </a:xfrm>
          <a:prstGeom prst="rect">
            <a:avLst/>
          </a:prstGeom>
          <a:noFill/>
        </p:spPr>
        <p:txBody>
          <a:bodyPr wrap="square">
            <a:spAutoFit/>
          </a:bodyPr>
          <a:lstStyle/>
          <a:p>
            <a:r>
              <a:rPr lang="en-US" b="1" dirty="0"/>
              <a:t>Automated verification</a:t>
            </a:r>
            <a:r>
              <a:rPr lang="en-US" dirty="0"/>
              <a:t>: highest possible degree of proof automation: complete elimination. But significant restrictions in expressivity (only some properties can be verified).</a:t>
            </a:r>
          </a:p>
        </p:txBody>
      </p:sp>
      <p:cxnSp>
        <p:nvCxnSpPr>
          <p:cNvPr id="14" name="Straight Arrow Connector 13">
            <a:extLst>
              <a:ext uri="{FF2B5EF4-FFF2-40B4-BE49-F238E27FC236}">
                <a16:creationId xmlns:a16="http://schemas.microsoft.com/office/drawing/2014/main" id="{CB0DCF1A-F5BA-B702-BA55-BF8B14CAC32A}"/>
              </a:ext>
            </a:extLst>
          </p:cNvPr>
          <p:cNvCxnSpPr>
            <a:cxnSpLocks/>
          </p:cNvCxnSpPr>
          <p:nvPr/>
        </p:nvCxnSpPr>
        <p:spPr>
          <a:xfrm>
            <a:off x="1877962" y="4208207"/>
            <a:ext cx="0" cy="914400"/>
          </a:xfrm>
          <a:prstGeom prst="straightConnector1">
            <a:avLst/>
          </a:prstGeom>
          <a:ln w="412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2BF398F-E76E-3F21-F527-5BB9DFD0FFDD}"/>
              </a:ext>
            </a:extLst>
          </p:cNvPr>
          <p:cNvCxnSpPr>
            <a:cxnSpLocks/>
          </p:cNvCxnSpPr>
          <p:nvPr/>
        </p:nvCxnSpPr>
        <p:spPr>
          <a:xfrm>
            <a:off x="5628969" y="4208207"/>
            <a:ext cx="0" cy="914400"/>
          </a:xfrm>
          <a:prstGeom prst="straightConnector1">
            <a:avLst/>
          </a:prstGeom>
          <a:ln w="412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04DBACB-455B-4BB4-7FBB-9EE45B7D8177}"/>
              </a:ext>
            </a:extLst>
          </p:cNvPr>
          <p:cNvCxnSpPr>
            <a:cxnSpLocks/>
          </p:cNvCxnSpPr>
          <p:nvPr/>
        </p:nvCxnSpPr>
        <p:spPr>
          <a:xfrm>
            <a:off x="9665110" y="4208207"/>
            <a:ext cx="0" cy="914400"/>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491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493E6-C31A-7803-4949-7A0F35BFA44B}"/>
              </a:ext>
            </a:extLst>
          </p:cNvPr>
          <p:cNvSpPr>
            <a:spLocks noGrp="1"/>
          </p:cNvSpPr>
          <p:nvPr>
            <p:ph type="title"/>
          </p:nvPr>
        </p:nvSpPr>
        <p:spPr/>
        <p:txBody>
          <a:bodyPr/>
          <a:lstStyle/>
          <a:p>
            <a:r>
              <a:rPr lang="en-US" dirty="0" err="1"/>
              <a:t>TPot</a:t>
            </a:r>
            <a:r>
              <a:rPr lang="en-US" dirty="0"/>
              <a:t>: A New Point in the Design Space</a:t>
            </a:r>
          </a:p>
        </p:txBody>
      </p:sp>
      <p:sp>
        <p:nvSpPr>
          <p:cNvPr id="3" name="Content Placeholder 2">
            <a:extLst>
              <a:ext uri="{FF2B5EF4-FFF2-40B4-BE49-F238E27FC236}">
                <a16:creationId xmlns:a16="http://schemas.microsoft.com/office/drawing/2014/main" id="{0489DD6D-657E-1CF7-07B5-47549248F36F}"/>
              </a:ext>
            </a:extLst>
          </p:cNvPr>
          <p:cNvSpPr>
            <a:spLocks noGrp="1"/>
          </p:cNvSpPr>
          <p:nvPr>
            <p:ph idx="1"/>
          </p:nvPr>
        </p:nvSpPr>
        <p:spPr>
          <a:xfrm>
            <a:off x="1143000" y="2057400"/>
            <a:ext cx="9872871" cy="1511710"/>
          </a:xfrm>
        </p:spPr>
        <p:txBody>
          <a:bodyPr/>
          <a:lstStyle/>
          <a:p>
            <a:r>
              <a:rPr lang="en-US" dirty="0"/>
              <a:t>much less manual effort than existing approaches</a:t>
            </a:r>
          </a:p>
          <a:p>
            <a:r>
              <a:rPr lang="en-US" dirty="0"/>
              <a:t> trades lots of expressiveness and some generality for a flatter learning curve</a:t>
            </a:r>
          </a:p>
          <a:p>
            <a:r>
              <a:rPr lang="en-US" dirty="0"/>
              <a:t>more expressive and general than automated verifiers</a:t>
            </a:r>
          </a:p>
        </p:txBody>
      </p:sp>
      <p:pic>
        <p:nvPicPr>
          <p:cNvPr id="5" name="Picture 4">
            <a:extLst>
              <a:ext uri="{FF2B5EF4-FFF2-40B4-BE49-F238E27FC236}">
                <a16:creationId xmlns:a16="http://schemas.microsoft.com/office/drawing/2014/main" id="{02DCCBA8-4857-7D5E-82A5-098CEE2381BB}"/>
              </a:ext>
            </a:extLst>
          </p:cNvPr>
          <p:cNvPicPr>
            <a:picLocks noChangeAspect="1"/>
          </p:cNvPicPr>
          <p:nvPr/>
        </p:nvPicPr>
        <p:blipFill>
          <a:blip r:embed="rId2"/>
          <a:stretch>
            <a:fillRect/>
          </a:stretch>
        </p:blipFill>
        <p:spPr>
          <a:xfrm>
            <a:off x="2087504" y="3429000"/>
            <a:ext cx="7543861" cy="2881142"/>
          </a:xfrm>
          <a:prstGeom prst="rect">
            <a:avLst/>
          </a:prstGeom>
        </p:spPr>
      </p:pic>
    </p:spTree>
    <p:extLst>
      <p:ext uri="{BB962C8B-B14F-4D97-AF65-F5344CB8AC3E}">
        <p14:creationId xmlns:p14="http://schemas.microsoft.com/office/powerpoint/2010/main" val="1869724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981E8-9F90-19C0-C677-BCA0108087ED}"/>
              </a:ext>
            </a:extLst>
          </p:cNvPr>
          <p:cNvSpPr>
            <a:spLocks noGrp="1"/>
          </p:cNvSpPr>
          <p:nvPr>
            <p:ph type="title"/>
          </p:nvPr>
        </p:nvSpPr>
        <p:spPr/>
        <p:txBody>
          <a:bodyPr/>
          <a:lstStyle/>
          <a:p>
            <a:r>
              <a:rPr lang="en-US" dirty="0"/>
              <a:t>Example</a:t>
            </a:r>
          </a:p>
        </p:txBody>
      </p:sp>
      <p:pic>
        <p:nvPicPr>
          <p:cNvPr id="5" name="Picture 4">
            <a:extLst>
              <a:ext uri="{FF2B5EF4-FFF2-40B4-BE49-F238E27FC236}">
                <a16:creationId xmlns:a16="http://schemas.microsoft.com/office/drawing/2014/main" id="{FAFA23A3-F606-2197-2B83-D48CAD08ECF2}"/>
              </a:ext>
            </a:extLst>
          </p:cNvPr>
          <p:cNvPicPr>
            <a:picLocks noChangeAspect="1"/>
          </p:cNvPicPr>
          <p:nvPr/>
        </p:nvPicPr>
        <p:blipFill>
          <a:blip r:embed="rId2"/>
          <a:stretch>
            <a:fillRect/>
          </a:stretch>
        </p:blipFill>
        <p:spPr>
          <a:xfrm>
            <a:off x="951782" y="1742446"/>
            <a:ext cx="10288436" cy="4505954"/>
          </a:xfrm>
          <a:prstGeom prst="rect">
            <a:avLst/>
          </a:prstGeom>
        </p:spPr>
      </p:pic>
    </p:spTree>
    <p:extLst>
      <p:ext uri="{BB962C8B-B14F-4D97-AF65-F5344CB8AC3E}">
        <p14:creationId xmlns:p14="http://schemas.microsoft.com/office/powerpoint/2010/main" val="2167764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D4C0-054A-3381-1997-5A4EE9075983}"/>
              </a:ext>
            </a:extLst>
          </p:cNvPr>
          <p:cNvSpPr>
            <a:spLocks noGrp="1"/>
          </p:cNvSpPr>
          <p:nvPr>
            <p:ph type="title"/>
          </p:nvPr>
        </p:nvSpPr>
        <p:spPr/>
        <p:txBody>
          <a:bodyPr/>
          <a:lstStyle/>
          <a:p>
            <a:r>
              <a:rPr lang="en-US" dirty="0" err="1"/>
              <a:t>TPot</a:t>
            </a:r>
            <a:r>
              <a:rPr lang="en-US" dirty="0"/>
              <a:t> architecture</a:t>
            </a:r>
          </a:p>
        </p:txBody>
      </p:sp>
      <p:pic>
        <p:nvPicPr>
          <p:cNvPr id="5" name="Picture 4">
            <a:extLst>
              <a:ext uri="{FF2B5EF4-FFF2-40B4-BE49-F238E27FC236}">
                <a16:creationId xmlns:a16="http://schemas.microsoft.com/office/drawing/2014/main" id="{E18D8199-8C8F-C380-19B4-602C643762D9}"/>
              </a:ext>
            </a:extLst>
          </p:cNvPr>
          <p:cNvPicPr>
            <a:picLocks noChangeAspect="1"/>
          </p:cNvPicPr>
          <p:nvPr/>
        </p:nvPicPr>
        <p:blipFill>
          <a:blip r:embed="rId2"/>
          <a:stretch>
            <a:fillRect/>
          </a:stretch>
        </p:blipFill>
        <p:spPr>
          <a:xfrm>
            <a:off x="1866009" y="1543480"/>
            <a:ext cx="7513965" cy="4907351"/>
          </a:xfrm>
          <a:prstGeom prst="rect">
            <a:avLst/>
          </a:prstGeom>
        </p:spPr>
      </p:pic>
    </p:spTree>
    <p:extLst>
      <p:ext uri="{BB962C8B-B14F-4D97-AF65-F5344CB8AC3E}">
        <p14:creationId xmlns:p14="http://schemas.microsoft.com/office/powerpoint/2010/main" val="41285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E125-8D1D-A733-C8E7-3CB53ED4A556}"/>
              </a:ext>
            </a:extLst>
          </p:cNvPr>
          <p:cNvSpPr>
            <a:spLocks noGrp="1"/>
          </p:cNvSpPr>
          <p:nvPr>
            <p:ph type="title"/>
          </p:nvPr>
        </p:nvSpPr>
        <p:spPr/>
        <p:txBody>
          <a:bodyPr/>
          <a:lstStyle/>
          <a:p>
            <a:r>
              <a:rPr lang="en-US" dirty="0"/>
              <a:t>Design goals</a:t>
            </a:r>
          </a:p>
        </p:txBody>
      </p:sp>
      <p:sp>
        <p:nvSpPr>
          <p:cNvPr id="3" name="Content Placeholder 2">
            <a:extLst>
              <a:ext uri="{FF2B5EF4-FFF2-40B4-BE49-F238E27FC236}">
                <a16:creationId xmlns:a16="http://schemas.microsoft.com/office/drawing/2014/main" id="{D9D3CF69-2C3F-772D-80C4-23300D2D5D47}"/>
              </a:ext>
            </a:extLst>
          </p:cNvPr>
          <p:cNvSpPr>
            <a:spLocks noGrp="1"/>
          </p:cNvSpPr>
          <p:nvPr>
            <p:ph idx="1"/>
          </p:nvPr>
        </p:nvSpPr>
        <p:spPr/>
        <p:txBody>
          <a:bodyPr/>
          <a:lstStyle/>
          <a:p>
            <a:r>
              <a:rPr lang="en-US" dirty="0"/>
              <a:t>specification language should be familiar to developers without verification expertise</a:t>
            </a:r>
          </a:p>
          <a:p>
            <a:r>
              <a:rPr lang="en-US" dirty="0"/>
              <a:t>Developers should not have to write intermediate specifications for the purposes of verification</a:t>
            </a:r>
          </a:p>
          <a:p>
            <a:r>
              <a:rPr lang="en-US" dirty="0"/>
              <a:t>the specification language must enable the right combination of expressiveness and automated reasoning</a:t>
            </a:r>
          </a:p>
        </p:txBody>
      </p:sp>
    </p:spTree>
    <p:extLst>
      <p:ext uri="{BB962C8B-B14F-4D97-AF65-F5344CB8AC3E}">
        <p14:creationId xmlns:p14="http://schemas.microsoft.com/office/powerpoint/2010/main" val="2870764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F63DF-E678-CF6F-45F0-A5ED0F90E0A9}"/>
              </a:ext>
            </a:extLst>
          </p:cNvPr>
          <p:cNvSpPr>
            <a:spLocks noGrp="1"/>
          </p:cNvSpPr>
          <p:nvPr>
            <p:ph type="title"/>
          </p:nvPr>
        </p:nvSpPr>
        <p:spPr/>
        <p:txBody>
          <a:bodyPr/>
          <a:lstStyle/>
          <a:p>
            <a:r>
              <a:rPr lang="en-US" dirty="0"/>
              <a:t>Language overview</a:t>
            </a:r>
          </a:p>
        </p:txBody>
      </p:sp>
      <p:pic>
        <p:nvPicPr>
          <p:cNvPr id="5" name="Picture 4">
            <a:extLst>
              <a:ext uri="{FF2B5EF4-FFF2-40B4-BE49-F238E27FC236}">
                <a16:creationId xmlns:a16="http://schemas.microsoft.com/office/drawing/2014/main" id="{A61C0A34-7269-1CA3-9F72-BC5352848E45}"/>
              </a:ext>
            </a:extLst>
          </p:cNvPr>
          <p:cNvPicPr>
            <a:picLocks noChangeAspect="1"/>
          </p:cNvPicPr>
          <p:nvPr/>
        </p:nvPicPr>
        <p:blipFill>
          <a:blip r:embed="rId2"/>
          <a:stretch>
            <a:fillRect/>
          </a:stretch>
        </p:blipFill>
        <p:spPr>
          <a:xfrm>
            <a:off x="233269" y="2522973"/>
            <a:ext cx="11725462" cy="3169904"/>
          </a:xfrm>
          <a:prstGeom prst="rect">
            <a:avLst/>
          </a:prstGeom>
        </p:spPr>
      </p:pic>
    </p:spTree>
    <p:extLst>
      <p:ext uri="{BB962C8B-B14F-4D97-AF65-F5344CB8AC3E}">
        <p14:creationId xmlns:p14="http://schemas.microsoft.com/office/powerpoint/2010/main" val="4200995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61907-E3BA-95D9-C4B1-E42757EB456D}"/>
              </a:ext>
            </a:extLst>
          </p:cNvPr>
          <p:cNvSpPr>
            <a:spLocks noGrp="1"/>
          </p:cNvSpPr>
          <p:nvPr>
            <p:ph type="title"/>
          </p:nvPr>
        </p:nvSpPr>
        <p:spPr>
          <a:xfrm>
            <a:off x="1103670" y="2448232"/>
            <a:ext cx="4245077" cy="1356360"/>
          </a:xfrm>
        </p:spPr>
        <p:txBody>
          <a:bodyPr/>
          <a:lstStyle/>
          <a:p>
            <a:r>
              <a:rPr lang="en-US" dirty="0"/>
              <a:t>Global invariants</a:t>
            </a:r>
          </a:p>
        </p:txBody>
      </p:sp>
      <p:pic>
        <p:nvPicPr>
          <p:cNvPr id="5" name="Picture 4">
            <a:extLst>
              <a:ext uri="{FF2B5EF4-FFF2-40B4-BE49-F238E27FC236}">
                <a16:creationId xmlns:a16="http://schemas.microsoft.com/office/drawing/2014/main" id="{EC05A896-7D68-5355-F0BA-9BEDDA53D0A5}"/>
              </a:ext>
            </a:extLst>
          </p:cNvPr>
          <p:cNvPicPr>
            <a:picLocks noChangeAspect="1"/>
          </p:cNvPicPr>
          <p:nvPr/>
        </p:nvPicPr>
        <p:blipFill>
          <a:blip r:embed="rId2"/>
          <a:stretch>
            <a:fillRect/>
          </a:stretch>
        </p:blipFill>
        <p:spPr>
          <a:xfrm>
            <a:off x="6249633" y="242443"/>
            <a:ext cx="5077534" cy="6373114"/>
          </a:xfrm>
          <a:prstGeom prst="rect">
            <a:avLst/>
          </a:prstGeom>
        </p:spPr>
      </p:pic>
      <p:sp>
        <p:nvSpPr>
          <p:cNvPr id="6" name="Rectangle 5">
            <a:extLst>
              <a:ext uri="{FF2B5EF4-FFF2-40B4-BE49-F238E27FC236}">
                <a16:creationId xmlns:a16="http://schemas.microsoft.com/office/drawing/2014/main" id="{A8D8EC37-D446-1602-D067-3E4AAE1356B2}"/>
              </a:ext>
            </a:extLst>
          </p:cNvPr>
          <p:cNvSpPr/>
          <p:nvPr/>
        </p:nvSpPr>
        <p:spPr>
          <a:xfrm>
            <a:off x="6441440" y="3017520"/>
            <a:ext cx="4577080" cy="1356360"/>
          </a:xfrm>
          <a:prstGeom prst="rect">
            <a:avLst/>
          </a:prstGeom>
          <a:noFill/>
          <a:ln w="34925">
            <a:solidFill>
              <a:srgbClr val="00B050">
                <a:alpha val="51000"/>
              </a:srgb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4229913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A46AB-27B8-76EF-F8CF-D61C6508A39C}"/>
              </a:ext>
            </a:extLst>
          </p:cNvPr>
          <p:cNvSpPr>
            <a:spLocks noGrp="1"/>
          </p:cNvSpPr>
          <p:nvPr>
            <p:ph type="title"/>
          </p:nvPr>
        </p:nvSpPr>
        <p:spPr/>
        <p:txBody>
          <a:bodyPr/>
          <a:lstStyle/>
          <a:p>
            <a:r>
              <a:rPr lang="en-US" dirty="0"/>
              <a:t>Naming</a:t>
            </a:r>
          </a:p>
        </p:txBody>
      </p:sp>
      <p:pic>
        <p:nvPicPr>
          <p:cNvPr id="5" name="Picture 4">
            <a:extLst>
              <a:ext uri="{FF2B5EF4-FFF2-40B4-BE49-F238E27FC236}">
                <a16:creationId xmlns:a16="http://schemas.microsoft.com/office/drawing/2014/main" id="{30E07B2C-EE6F-CD3D-7B5A-09759E5F9E10}"/>
              </a:ext>
            </a:extLst>
          </p:cNvPr>
          <p:cNvPicPr>
            <a:picLocks noChangeAspect="1"/>
          </p:cNvPicPr>
          <p:nvPr/>
        </p:nvPicPr>
        <p:blipFill>
          <a:blip r:embed="rId2"/>
          <a:stretch>
            <a:fillRect/>
          </a:stretch>
        </p:blipFill>
        <p:spPr>
          <a:xfrm>
            <a:off x="5237893" y="795718"/>
            <a:ext cx="5811107" cy="5048033"/>
          </a:xfrm>
          <a:prstGeom prst="rect">
            <a:avLst/>
          </a:prstGeom>
        </p:spPr>
      </p:pic>
    </p:spTree>
    <p:extLst>
      <p:ext uri="{BB962C8B-B14F-4D97-AF65-F5344CB8AC3E}">
        <p14:creationId xmlns:p14="http://schemas.microsoft.com/office/powerpoint/2010/main" val="423029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C8408-0569-8E4F-1EBF-C8C5FEAB8602}"/>
              </a:ext>
            </a:extLst>
          </p:cNvPr>
          <p:cNvSpPr>
            <a:spLocks noGrp="1"/>
          </p:cNvSpPr>
          <p:nvPr>
            <p:ph type="title"/>
          </p:nvPr>
        </p:nvSpPr>
        <p:spPr/>
        <p:txBody>
          <a:bodyPr/>
          <a:lstStyle/>
          <a:p>
            <a:r>
              <a:rPr lang="en-US" dirty="0"/>
              <a:t>Universal quantification.</a:t>
            </a:r>
          </a:p>
        </p:txBody>
      </p:sp>
      <p:pic>
        <p:nvPicPr>
          <p:cNvPr id="4" name="Picture 3">
            <a:extLst>
              <a:ext uri="{FF2B5EF4-FFF2-40B4-BE49-F238E27FC236}">
                <a16:creationId xmlns:a16="http://schemas.microsoft.com/office/drawing/2014/main" id="{985E37A1-DFC0-BFC3-A2D8-22C72AE4EC41}"/>
              </a:ext>
            </a:extLst>
          </p:cNvPr>
          <p:cNvPicPr>
            <a:picLocks noChangeAspect="1"/>
          </p:cNvPicPr>
          <p:nvPr/>
        </p:nvPicPr>
        <p:blipFill>
          <a:blip r:embed="rId2"/>
          <a:stretch>
            <a:fillRect/>
          </a:stretch>
        </p:blipFill>
        <p:spPr>
          <a:xfrm>
            <a:off x="233269" y="2522973"/>
            <a:ext cx="11725462" cy="3169904"/>
          </a:xfrm>
          <a:prstGeom prst="rect">
            <a:avLst/>
          </a:prstGeom>
        </p:spPr>
      </p:pic>
    </p:spTree>
    <p:extLst>
      <p:ext uri="{BB962C8B-B14F-4D97-AF65-F5344CB8AC3E}">
        <p14:creationId xmlns:p14="http://schemas.microsoft.com/office/powerpoint/2010/main" val="2976756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9298B-87EE-8D21-88A3-555472C8762D}"/>
              </a:ext>
            </a:extLst>
          </p:cNvPr>
          <p:cNvSpPr>
            <a:spLocks noGrp="1"/>
          </p:cNvSpPr>
          <p:nvPr>
            <p:ph type="title"/>
          </p:nvPr>
        </p:nvSpPr>
        <p:spPr/>
        <p:txBody>
          <a:bodyPr/>
          <a:lstStyle/>
          <a:p>
            <a:r>
              <a:rPr lang="en-US" dirty="0"/>
              <a:t>Loop invariants</a:t>
            </a:r>
          </a:p>
        </p:txBody>
      </p:sp>
      <p:sp>
        <p:nvSpPr>
          <p:cNvPr id="3" name="Content Placeholder 2">
            <a:extLst>
              <a:ext uri="{FF2B5EF4-FFF2-40B4-BE49-F238E27FC236}">
                <a16:creationId xmlns:a16="http://schemas.microsoft.com/office/drawing/2014/main" id="{D6292E10-C899-E458-4216-F9A0128C8254}"/>
              </a:ext>
            </a:extLst>
          </p:cNvPr>
          <p:cNvSpPr>
            <a:spLocks noGrp="1"/>
          </p:cNvSpPr>
          <p:nvPr>
            <p:ph idx="1"/>
          </p:nvPr>
        </p:nvSpPr>
        <p:spPr/>
        <p:txBody>
          <a:bodyPr/>
          <a:lstStyle/>
          <a:p>
            <a:r>
              <a:rPr lang="en-US" dirty="0"/>
              <a:t>Loop invariants. </a:t>
            </a:r>
            <a:r>
              <a:rPr lang="en-US" dirty="0" err="1"/>
              <a:t>TPot</a:t>
            </a:r>
            <a:r>
              <a:rPr lang="en-US" dirty="0"/>
              <a:t> also supports loop invariants to keep verification tractable when the implementation includes loops whose bounds are dynamically determined, or too large to be unrolled within an acceptable amount of time. By default, </a:t>
            </a:r>
            <a:r>
              <a:rPr lang="en-US" dirty="0" err="1"/>
              <a:t>TPot</a:t>
            </a:r>
            <a:r>
              <a:rPr lang="en-US" dirty="0"/>
              <a:t> will unroll all loops during symbolic execution and does not require loops to be annotated.</a:t>
            </a:r>
          </a:p>
        </p:txBody>
      </p:sp>
    </p:spTree>
    <p:extLst>
      <p:ext uri="{BB962C8B-B14F-4D97-AF65-F5344CB8AC3E}">
        <p14:creationId xmlns:p14="http://schemas.microsoft.com/office/powerpoint/2010/main" val="523801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58A5-65F2-F1CF-ED03-2291CD745E60}"/>
              </a:ext>
            </a:extLst>
          </p:cNvPr>
          <p:cNvSpPr>
            <a:spLocks noGrp="1"/>
          </p:cNvSpPr>
          <p:nvPr>
            <p:ph type="title"/>
          </p:nvPr>
        </p:nvSpPr>
        <p:spPr/>
        <p:txBody>
          <a:bodyPr/>
          <a:lstStyle/>
          <a:p>
            <a:r>
              <a:rPr lang="en-US" dirty="0"/>
              <a:t>Custom Byte Memory Model</a:t>
            </a:r>
          </a:p>
        </p:txBody>
      </p:sp>
      <p:sp>
        <p:nvSpPr>
          <p:cNvPr id="3" name="Content Placeholder 2">
            <a:extLst>
              <a:ext uri="{FF2B5EF4-FFF2-40B4-BE49-F238E27FC236}">
                <a16:creationId xmlns:a16="http://schemas.microsoft.com/office/drawing/2014/main" id="{0E9BB247-F9FB-D4F0-05EC-432284F67939}"/>
              </a:ext>
            </a:extLst>
          </p:cNvPr>
          <p:cNvSpPr>
            <a:spLocks noGrp="1"/>
          </p:cNvSpPr>
          <p:nvPr>
            <p:ph idx="1"/>
          </p:nvPr>
        </p:nvSpPr>
        <p:spPr/>
        <p:txBody>
          <a:bodyPr/>
          <a:lstStyle/>
          <a:p>
            <a:r>
              <a:rPr lang="en-US" dirty="0" err="1"/>
              <a:t>TPot’s</a:t>
            </a:r>
            <a:r>
              <a:rPr lang="en-US" dirty="0"/>
              <a:t> memory model builds on top of KLEE’s, which represents objects using SMT arrays of bytes accessed at bounds-checked indices. </a:t>
            </a:r>
            <a:r>
              <a:rPr lang="en-US" dirty="0" err="1"/>
              <a:t>Tpot</a:t>
            </a:r>
            <a:r>
              <a:rPr lang="en-US" dirty="0"/>
              <a:t> extends it with a symbolic heap representation supporting lazily materialized objects, symbolic base addresses, and symbolic object sizes. Like KLEE, </a:t>
            </a:r>
            <a:r>
              <a:rPr lang="en-US" dirty="0" err="1"/>
              <a:t>TPot</a:t>
            </a:r>
            <a:r>
              <a:rPr lang="en-US" dirty="0"/>
              <a:t> does not distinguish between pointers and data, and uses SMT queries to resolve addresses and objects.</a:t>
            </a:r>
          </a:p>
        </p:txBody>
      </p:sp>
    </p:spTree>
    <p:extLst>
      <p:ext uri="{BB962C8B-B14F-4D97-AF65-F5344CB8AC3E}">
        <p14:creationId xmlns:p14="http://schemas.microsoft.com/office/powerpoint/2010/main" val="1404633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A639-AD76-3458-294F-62F3C082F1F5}"/>
              </a:ext>
            </a:extLst>
          </p:cNvPr>
          <p:cNvSpPr>
            <a:spLocks noGrp="1"/>
          </p:cNvSpPr>
          <p:nvPr>
            <p:ph type="title"/>
          </p:nvPr>
        </p:nvSpPr>
        <p:spPr/>
        <p:txBody>
          <a:bodyPr/>
          <a:lstStyle/>
          <a:p>
            <a:r>
              <a:rPr lang="en-US" dirty="0" err="1"/>
              <a:t>TPot’s</a:t>
            </a:r>
            <a:r>
              <a:rPr lang="en-US" dirty="0"/>
              <a:t> SMT Encoding</a:t>
            </a:r>
          </a:p>
        </p:txBody>
      </p:sp>
      <p:sp>
        <p:nvSpPr>
          <p:cNvPr id="3" name="Content Placeholder 2">
            <a:extLst>
              <a:ext uri="{FF2B5EF4-FFF2-40B4-BE49-F238E27FC236}">
                <a16:creationId xmlns:a16="http://schemas.microsoft.com/office/drawing/2014/main" id="{D2D31C38-EED9-9F67-58B4-989D1202569B}"/>
              </a:ext>
            </a:extLst>
          </p:cNvPr>
          <p:cNvSpPr>
            <a:spLocks noGrp="1"/>
          </p:cNvSpPr>
          <p:nvPr>
            <p:ph idx="1"/>
          </p:nvPr>
        </p:nvSpPr>
        <p:spPr/>
        <p:txBody>
          <a:bodyPr/>
          <a:lstStyle/>
          <a:p>
            <a:r>
              <a:rPr lang="en-US" dirty="0"/>
              <a:t>Eliminating quantifiers.</a:t>
            </a:r>
          </a:p>
          <a:p>
            <a:r>
              <a:rPr lang="en-US" dirty="0"/>
              <a:t>Converting pointer values, heap addresses, and object sizes to integers.</a:t>
            </a:r>
          </a:p>
          <a:p>
            <a:r>
              <a:rPr lang="en-US" dirty="0"/>
              <a:t>Query simplification.</a:t>
            </a:r>
          </a:p>
          <a:p>
            <a:r>
              <a:rPr lang="en-US" dirty="0"/>
              <a:t>Read after write.</a:t>
            </a:r>
          </a:p>
          <a:p>
            <a:r>
              <a:rPr lang="en-US" dirty="0"/>
              <a:t>Constant offsets.</a:t>
            </a:r>
          </a:p>
        </p:txBody>
      </p:sp>
    </p:spTree>
    <p:extLst>
      <p:ext uri="{BB962C8B-B14F-4D97-AF65-F5344CB8AC3E}">
        <p14:creationId xmlns:p14="http://schemas.microsoft.com/office/powerpoint/2010/main" val="1814024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4806A-D588-A9FF-3745-177DDE29DE3F}"/>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9F65BA0C-E6EA-950D-463E-EB52D23BB5FC}"/>
              </a:ext>
            </a:extLst>
          </p:cNvPr>
          <p:cNvSpPr>
            <a:spLocks noGrp="1"/>
          </p:cNvSpPr>
          <p:nvPr>
            <p:ph idx="1"/>
          </p:nvPr>
        </p:nvSpPr>
        <p:spPr/>
        <p:txBody>
          <a:bodyPr>
            <a:normAutofit/>
          </a:bodyPr>
          <a:lstStyle/>
          <a:p>
            <a:r>
              <a:rPr lang="en-US" dirty="0" err="1"/>
              <a:t>TPot</a:t>
            </a:r>
            <a:r>
              <a:rPr lang="en-US" dirty="0"/>
              <a:t> can verify diverse systems components without requiring their code to be modified to suit </a:t>
            </a:r>
            <a:r>
              <a:rPr lang="en-US" dirty="0" err="1"/>
              <a:t>TPot</a:t>
            </a:r>
            <a:r>
              <a:rPr lang="en-US" dirty="0"/>
              <a:t>. </a:t>
            </a:r>
            <a:r>
              <a:rPr lang="en-US" dirty="0" err="1"/>
              <a:t>TPot</a:t>
            </a:r>
            <a:r>
              <a:rPr lang="en-US" dirty="0"/>
              <a:t> proves the absence of low-level bugs and achieves the same functional correctness guarantees as the baselines, though without the same level of abstraction or compositionality.</a:t>
            </a:r>
          </a:p>
          <a:p>
            <a:r>
              <a:rPr lang="en-US" dirty="0"/>
              <a:t>Compared to the baseline verifiers, the annotation overhead </a:t>
            </a:r>
            <a:r>
              <a:rPr lang="en-US" dirty="0" err="1"/>
              <a:t>TPot</a:t>
            </a:r>
            <a:r>
              <a:rPr lang="en-US" dirty="0"/>
              <a:t> incurs is consistently less, with reductions ranging up to more than 3×. This is an underestimate of the true benefit that </a:t>
            </a:r>
            <a:r>
              <a:rPr lang="en-US" dirty="0" err="1"/>
              <a:t>TPot</a:t>
            </a:r>
            <a:r>
              <a:rPr lang="en-US" dirty="0"/>
              <a:t> offers practitioners in terms of reduction in effort, and thus increase in productivity.</a:t>
            </a:r>
          </a:p>
          <a:p>
            <a:r>
              <a:rPr lang="en-US" dirty="0"/>
              <a:t>The amount of time it takes to verify system components using </a:t>
            </a:r>
            <a:r>
              <a:rPr lang="en-US" dirty="0" err="1"/>
              <a:t>TPot</a:t>
            </a:r>
            <a:r>
              <a:rPr lang="en-US" dirty="0"/>
              <a:t> is compatible with modern CI pipelines. The practitioner therefore gets to trade verification time for a reduction in annotation overhead.</a:t>
            </a:r>
          </a:p>
        </p:txBody>
      </p:sp>
    </p:spTree>
    <p:extLst>
      <p:ext uri="{BB962C8B-B14F-4D97-AF65-F5344CB8AC3E}">
        <p14:creationId xmlns:p14="http://schemas.microsoft.com/office/powerpoint/2010/main" val="603450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19D87-BF9B-0077-38FD-ADCC48C75D8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CFC8B1A-EB95-9A4C-0285-6D63D2F43127}"/>
              </a:ext>
            </a:extLst>
          </p:cNvPr>
          <p:cNvSpPr>
            <a:spLocks noGrp="1"/>
          </p:cNvSpPr>
          <p:nvPr>
            <p:ph idx="1"/>
          </p:nvPr>
        </p:nvSpPr>
        <p:spPr/>
        <p:txBody>
          <a:bodyPr/>
          <a:lstStyle/>
          <a:p>
            <a:pPr marL="45720" indent="0">
              <a:buNone/>
            </a:pPr>
            <a:endParaRPr lang="en-US" dirty="0"/>
          </a:p>
          <a:p>
            <a:r>
              <a:rPr lang="en-US" dirty="0"/>
              <a:t>incurs less manual effort than existing semi-automated verifiers; </a:t>
            </a:r>
          </a:p>
          <a:p>
            <a:r>
              <a:rPr lang="en-US" dirty="0"/>
              <a:t>is friendly for ordinary programmers;</a:t>
            </a:r>
          </a:p>
          <a:p>
            <a:r>
              <a:rPr lang="en-US" dirty="0"/>
              <a:t> is not limited to specific types of applications; </a:t>
            </a:r>
          </a:p>
          <a:p>
            <a:r>
              <a:rPr lang="en-US" dirty="0"/>
              <a:t>does not require adapting systems code for verification. </a:t>
            </a:r>
          </a:p>
        </p:txBody>
      </p:sp>
    </p:spTree>
    <p:extLst>
      <p:ext uri="{BB962C8B-B14F-4D97-AF65-F5344CB8AC3E}">
        <p14:creationId xmlns:p14="http://schemas.microsoft.com/office/powerpoint/2010/main" val="3702918652"/>
      </p:ext>
    </p:extLst>
  </p:cSld>
  <p:clrMapOvr>
    <a:masterClrMapping/>
  </p:clrMapOvr>
</p:sld>
</file>

<file path=ppt/theme/theme1.xml><?xml version="1.0" encoding="utf-8"?>
<a:theme xmlns:a="http://schemas.openxmlformats.org/drawingml/2006/main" name="Basis">
  <a:themeElements>
    <a:clrScheme name="Custom 2">
      <a:dk1>
        <a:sysClr val="windowText" lastClr="000000"/>
      </a:dk1>
      <a:lt1>
        <a:sysClr val="window" lastClr="FFFFFF"/>
      </a:lt1>
      <a:dk2>
        <a:srgbClr val="000000"/>
      </a:dk2>
      <a:lt2>
        <a:srgbClr val="000000"/>
      </a:lt2>
      <a:accent1>
        <a:srgbClr val="7F7F7F"/>
      </a:accent1>
      <a:accent2>
        <a:srgbClr val="262626"/>
      </a:accent2>
      <a:accent3>
        <a:srgbClr val="3F3F3F"/>
      </a:accent3>
      <a:accent4>
        <a:srgbClr val="7F7F7F"/>
      </a:accent4>
      <a:accent5>
        <a:srgbClr val="5F5F5F"/>
      </a:accent5>
      <a:accent6>
        <a:srgbClr val="4D4D4D"/>
      </a:accent6>
      <a:hlink>
        <a:srgbClr val="5F5F5F"/>
      </a:hlink>
      <a:folHlink>
        <a:srgbClr val="919191"/>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419</TotalTime>
  <Words>623</Words>
  <Application>Microsoft Office PowerPoint</Application>
  <PresentationFormat>Widescreen</PresentationFormat>
  <Paragraphs>44</Paragraphs>
  <Slides>16</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Corbel</vt:lpstr>
      <vt:lpstr>Basis</vt:lpstr>
      <vt:lpstr>Practical Verification of System-Software Components Written in Standard C</vt:lpstr>
      <vt:lpstr>Goals (in context of existing verifiers)</vt:lpstr>
      <vt:lpstr>Spectrum</vt:lpstr>
      <vt:lpstr>TPot: A New Point in the Design Space</vt:lpstr>
      <vt:lpstr>Example</vt:lpstr>
      <vt:lpstr>TPot architecture</vt:lpstr>
      <vt:lpstr>Design goals</vt:lpstr>
      <vt:lpstr>Language overview</vt:lpstr>
      <vt:lpstr>Global invariants</vt:lpstr>
      <vt:lpstr>Naming</vt:lpstr>
      <vt:lpstr>Universal quantification.</vt:lpstr>
      <vt:lpstr>Loop invariants</vt:lpstr>
      <vt:lpstr>Custom Byte Memory Model</vt:lpstr>
      <vt:lpstr>TPot’s SMT Encoding</vt:lpstr>
      <vt:lpstr>Evaluation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Nataliia Korop</dc:creator>
  <cp:lastModifiedBy>Nataliia Korop</cp:lastModifiedBy>
  <cp:revision>5</cp:revision>
  <dcterms:created xsi:type="dcterms:W3CDTF">2025-05-03T08:50:07Z</dcterms:created>
  <dcterms:modified xsi:type="dcterms:W3CDTF">2025-05-15T13:35:33Z</dcterms:modified>
</cp:coreProperties>
</file>